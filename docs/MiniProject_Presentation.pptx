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20 seconds. Say the problem in the first sentence: school emails hide deadlines, and I built an agent that handles them and asks before it sends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seconds. The pain is manual triage of school email. The three examples are the ones the agent is built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40 seconds. Walk the four boxes left to right. Point out that the review phase is the human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40 seconds. Left to right: the model loop calls tools, the tools touch real services, and the approval queue sits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50 seconds. This is the key question. Point at the left column: facts in, facts out. Point at the right: that is the agent. Then give the honest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seconds. The point: the no-send guarantee does not depend on the model behaving.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45 seconds. Tell the duplicate-events story. It shows the agent working on real data and a real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60 seconds. Replace the placeholder box with the real run before presenting. Read the steps, not only the final answer, and name the step that surprised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45 seconds. For some rows, rules would do the same. Say so. The rows where the agent is better are the ones that need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seconds. Naming these gaps first shows that I understand the project. End by pointing to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MiniProject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C9D6E6"/>
                </a:solidFill>
                <a:latin typeface="Calibri"/>
              </a:rPr>
              <a:t>A school-email agent that triages, schedules, and asks before anything is 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9D6E6"/>
                </a:solidFill>
                <a:latin typeface="Calibri"/>
              </a:rPr>
              <a:t>Jacob Otiende  ·  BUAN 6V99  ·  github.com/JacobOtiende/MiniProject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0">
                <a:solidFill>
                  <a:srgbClr val="1B2A41"/>
                </a:solidFill>
                <a:latin typeface="Calibri"/>
              </a:rPr>
              <a:t>School emails hide deadlines, RSVPs, and calendar clashes. A parent has to read every one and act on it by hand.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Deadlines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A form due Friday is one line in a long email.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5146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Calendar clashes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2004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A field trip lands on a dentist appointment.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59" y="251460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Replies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20040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Someone asks for a reply, and it waits in your inbox.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How it works: four phases, one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1 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Reads new school email and acts: events, tasks, reply drafts.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371600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554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2  Rundown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10312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Writes today’s start-of-day briefing into a summary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3  Wrap-up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Writes the end-of-day achievements summary, after 3pm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371600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554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4 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03120"/>
            <a:ext cx="15544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B2A41"/>
                </a:solidFill>
                <a:latin typeface="Calibri"/>
              </a:rPr>
              <a:t>Walks through drafts waiting for approval. Nothing sends by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4A5A6E"/>
                </a:solidFill>
                <a:latin typeface="Calibri"/>
              </a:rPr>
              <a:t>Run it with python main.py. Demo mode uses fake Google data. Live mode uses real Gmail, Calendar, and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Architecture: the model decides, tools 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377440" cy="256032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Model loop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C9D6E6"/>
                </a:solidFill>
                <a:latin typeface="Calibri"/>
              </a:rPr>
              <a:t>GPT-4o in a LangChain loop. It picks the next tool, reads the result, and repeats until it is done.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2651760"/>
            <a:ext cx="548640" cy="0"/>
          </a:xfrm>
          <a:prstGeom prst="line">
            <a:avLst/>
          </a:prstGeom>
          <a:ln w="25400">
            <a:solidFill>
              <a:srgbClr val="4A5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4720" y="1371600"/>
            <a:ext cx="2377440" cy="2560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057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2A41"/>
                </a:solidFill>
                <a:latin typeface="Cambria"/>
              </a:rPr>
              <a:t>Tools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B2A41"/>
                </a:solidFill>
                <a:latin typeface="Calibri"/>
              </a:rPr>
              <a:t>Email: list, mark read, draft reply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B2A41"/>
                </a:solidFill>
                <a:latin typeface="Calibri"/>
              </a:rPr>
              <a:t>Calendar: check conflicts, find times, create events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400" b="0">
                <a:solidFill>
                  <a:srgbClr val="1B2A41"/>
                </a:solidFill>
                <a:latin typeface="Calibri"/>
              </a:rPr>
              <a:t>Tasks: log, list, achievements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651760"/>
            <a:ext cx="457200" cy="0"/>
          </a:xfrm>
          <a:prstGeom prst="line">
            <a:avLst/>
          </a:prstGeom>
          <a:ln w="25400">
            <a:solidFill>
              <a:srgbClr val="4A5A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371600"/>
            <a:ext cx="2286000" cy="2560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1965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2A41"/>
                </a:solidFill>
                <a:latin typeface="Cambria"/>
              </a:rPr>
              <a:t>Services</a:t>
            </a:r>
          </a:p>
          <a:p>
            <a:pPr marL="256032" indent="-256032">
              <a:spcAft>
                <a:spcPts val="400"/>
              </a:spcAft>
              <a:buFont typeface="Arial"/>
              <a:buChar char="•"/>
            </a:pPr>
            <a:r>
              <a:rPr sz="1400" b="0">
                <a:solidFill>
                  <a:srgbClr val="1B2A41"/>
                </a:solidFill>
                <a:latin typeface="Calibri"/>
              </a:rPr>
              <a:t>Gmail, Calendar, and Google Tasks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400" b="0">
                <a:solidFill>
                  <a:srgbClr val="1B2A41"/>
                </a:solidFill>
                <a:latin typeface="Calibri"/>
              </a:rPr>
              <a:t>Approval queue: drafts wait for a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libri"/>
              </a:rPr>
              <a:t>The tools return facts. The model chooses what to do with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Which code fetches, and which code decides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840480" cy="31546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Code fetches or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474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Reads school email and the calendar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Checks for conflicts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Creates events and Gmail drafts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Writes tasks, skipping exact duplicates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Holds drafts in the approval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3840480" cy="31546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4630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The model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965960"/>
            <a:ext cx="3474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Which emails need an event, task, or draft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Priority (high, medium, low) and why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Due dates from phrases like “this Friday”</a:t>
            </a:r>
          </a:p>
          <a:p>
            <a:pPr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Which alternate time to use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600" b="0">
                <a:solidFill>
                  <a:srgbClr val="FFFFFF"/>
                </a:solidFill>
                <a:latin typeface="Calibri"/>
              </a:rPr>
              <a:t>What a reply says, and when it is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5A6E"/>
                </a:solidFill>
                <a:latin typeface="Calibri"/>
              </a:rPr>
              <a:t>Honest note: some decisions are still in code. The phase order is fixed, and propose_alternate_times defaults to 8 AM to 6 PM on weekdays, which the model can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Guardrails are enforced in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804672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589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No send tool exists. </a:t>
            </a:r>
            <a:r>
              <a:rPr sz="1600" b="0">
                <a:solidFill>
                  <a:srgbClr val="1B2A41"/>
                </a:solidFill>
                <a:latin typeface="Calibri"/>
              </a:rPr>
              <a:t>A reply becomes a Gmail draft and an approval entry. A person sends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804672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589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Duplicate tasks are blocked. </a:t>
            </a:r>
            <a:r>
              <a:rPr sz="1600" b="0">
                <a:solidFill>
                  <a:srgbClr val="1B2A41"/>
                </a:solidFill>
                <a:latin typeface="Calibri"/>
              </a:rPr>
              <a:t>A task with the same title is not created twice.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804672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7589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Mark-read is limited. </a:t>
            </a:r>
            <a:r>
              <a:rPr sz="1600" b="0">
                <a:solidFill>
                  <a:srgbClr val="1B2A41"/>
                </a:solidFill>
                <a:latin typeface="Calibri"/>
              </a:rPr>
              <a:t>The agent can only mark read emails it was shown in this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804672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7589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Errors are returned, not fatal. </a:t>
            </a:r>
            <a:r>
              <a:rPr sz="1600" b="0">
                <a:solidFill>
                  <a:srgbClr val="1B2A41"/>
                </a:solidFill>
                <a:latin typeface="Calibri"/>
              </a:rPr>
              <a:t>A failing tool sends its error back to the model, and the run keeps going.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4A5A6E"/>
                </a:solidFill>
                <a:latin typeface="Calibri"/>
              </a:rPr>
              <a:t>The prompt states these rules too. The code is what enforces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It working: what live runs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7200" b="1">
                <a:solidFill>
                  <a:srgbClr val="1B2A41"/>
                </a:solidFill>
                <a:latin typeface="Cambria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4A5A6E"/>
                </a:solidFill>
                <a:latin typeface="Calibri"/>
              </a:rPr>
              <a:t>automated tests passing, using a scripted fake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5303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Live runs created calendar events, Gmail drafts, and Google Tasks.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Found a bug: one “Parent Night” email made 7 duplicate calendar events. Emails stayed unread, so every run handled them again.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600" b="0">
                <a:solidFill>
                  <a:srgbClr val="1B2A41"/>
                </a:solidFill>
                <a:latin typeface="Calibri"/>
              </a:rPr>
              <a:t>Fix: handled emails are marked read and recorded as reviewed, so later runs skip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A run on an email the agent has not seen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046720" cy="30175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25400">
            <a:solidFill>
              <a:srgbClr val="E8A3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589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2A41"/>
                </a:solidFill>
                <a:latin typeface="Cambria"/>
              </a:rPr>
              <a:t>[TO FILL BEFORE CLASS]</a:t>
            </a:r>
          </a:p>
          <a:p>
            <a:pPr marL="256032" indent="-256032">
              <a:spcAft>
                <a:spcPts val="600"/>
              </a:spcAft>
              <a:buAutoNum type="arabicPeriod"/>
            </a:pPr>
            <a:r>
              <a:rPr sz="1600" b="0">
                <a:solidFill>
                  <a:srgbClr val="1B2A41"/>
                </a:solidFill>
                <a:latin typeface="Calibri"/>
              </a:rPr>
              <a:t>The email I tried: sender, subject, and one line of content</a:t>
            </a:r>
          </a:p>
          <a:p>
            <a:pPr marL="256032" indent="-256032">
              <a:spcAft>
                <a:spcPts val="600"/>
              </a:spcAft>
              <a:buAutoNum type="arabicPeriod"/>
            </a:pPr>
            <a:r>
              <a:rPr sz="1600" b="0">
                <a:solidFill>
                  <a:srgbClr val="1B2A41"/>
                </a:solidFill>
                <a:latin typeface="Calibri"/>
              </a:rPr>
              <a:t>The steps: each tool, its arguments, and its result</a:t>
            </a:r>
          </a:p>
          <a:p>
            <a:pPr marL="256032" indent="-256032">
              <a:spcAft>
                <a:spcPts val="0"/>
              </a:spcAft>
              <a:buAutoNum type="arabicPeriod"/>
            </a:pPr>
            <a:r>
              <a:rPr sz="1600" b="0">
                <a:solidFill>
                  <a:srgbClr val="1B2A41"/>
                </a:solidFill>
                <a:latin typeface="Calibri"/>
              </a:rPr>
              <a:t>The final answer, and one step I did not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5A6E"/>
                </a:solidFill>
                <a:latin typeface="Calibri"/>
              </a:rPr>
              <a:t>Source: the console output. Per-tool trace files are not written yet (see known gaps).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If the AI were swapped for plain rules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91440" marR="91440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anchor="ctr" marL="91440" marR="91440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 marL="91440" marR="91440"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Explicit date: “Oct 20 at 2pm”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Relative date: “this Friday”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Needs a date parser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Resolves it from today’s date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Priority, with a reason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Keyword lists; brittle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Judges consequences and explains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Vague email, no clear action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Misses it or guesses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Logs it for review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Reply draft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Fixed template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  <a:latin typeface="Calibri"/>
                        </a:rPr>
                        <a:t>Writes the reply</a:t>
                      </a:r>
                    </a:p>
                  </a:txBody>
                  <a:tcPr anchor="ctr" marL="91440" marR="9144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5A6E"/>
                </a:solidFill>
                <a:latin typeface="Calibri"/>
              </a:rPr>
              <a:t>Expected, not yet measured. Check it against the trace on the previous slide before claiming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B2A41"/>
                </a:solidFill>
                <a:latin typeface="Cambria"/>
              </a:rPr>
              <a:t>Known gaps, stated before anyone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B2A41"/>
                </a:solidFill>
                <a:latin typeface="Calibri"/>
              </a:rPr>
              <a:t>Tool tracing does not record yet. A bug stops per-tool trace files from being written, so use the console output.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B2A41"/>
                </a:solidFill>
                <a:latin typeface="Calibri"/>
              </a:rPr>
              <a:t>Token cost is unverified on a real run.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B2A41"/>
                </a:solidFill>
                <a:latin typeface="Calibri"/>
              </a:rPr>
              <a:t>Each queued reply also logs a “Review and send” task, which overlaps with the approval queue.</a:t>
            </a:r>
          </a:p>
          <a:p>
            <a:pPr marL="256032" indent="-256032"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B2A41"/>
                </a:solidFill>
                <a:latin typeface="Calibri"/>
              </a:rPr>
              <a:t>The 3pm end-of-day check uses the computer’s local time, not Central time.</a:t>
            </a:r>
          </a:p>
          <a:p>
            <a:pPr marL="256032" indent="-256032">
              <a:spcAft>
                <a:spcPts val="0"/>
              </a:spcAft>
              <a:buFont typeface="Arial"/>
              <a:buChar char="•"/>
            </a:pPr>
            <a:r>
              <a:rPr sz="1800" b="0">
                <a:solidFill>
                  <a:srgbClr val="1B2A41"/>
                </a:solidFill>
                <a:latin typeface="Calibri"/>
              </a:rPr>
              <a:t>Demo mode fakes Google data. Live mode needs OAuth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Code: github.com/JacobOtiende/MiniProject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